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mission: an open Quran voice collection built by the ummah, for the ummah.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High-quality, openly licensed Quran recitation audio at verse level barely exists. Models and apps rely on a handful of famous qaris.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Tilawah crowdsources verse-level recitations, reviews each one, and publishes open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target: every verse from 5 different qaris — 31,180 approved recordings.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open collection unlocks.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donations go: review, storage, model training. $48k funds year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donate, recite, or spread the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700000">
            <a:off x="8620125" y="2606040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523875" y="0"/>
                </a:moveTo>
                <a:lnTo>
                  <a:pt x="523875" y="0"/>
                </a:lnTo>
                <a:arcTo hR="523875" wR="523875" stAng="16200000" swAng="5400000"/>
                <a:lnTo>
                  <a:pt x="1047750" y="523875"/>
                </a:lnTo>
                <a:arcTo hR="523875" wR="523875" stAng="0" swAng="5400000"/>
                <a:lnTo>
                  <a:pt x="0" y="1047750"/>
                </a:lnTo>
                <a:lnTo>
                  <a:pt x="0" y="523875"/>
                </a:lnTo>
                <a:arcTo hR="523875" wR="523875" stAng="10800000" swAng="5400000"/>
                <a:close/>
              </a:path>
            </a:pathLst>
          </a:custGeom>
          <a:gradFill rotWithShape="1">
            <a:gsLst>
              <a:gs pos="0">
                <a:srgbClr val="D4A94A">
                  <a:alpha val="100000"/>
                </a:srgbClr>
              </a:gs>
              <a:gs pos="100000">
                <a:srgbClr val="F0D488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419100" dist="133350" dir="5400000">
              <a:srgbClr val="D4A94A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 rot="2700000">
            <a:off x="8964471" y="2787057"/>
            <a:ext cx="35897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0620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☾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383334" y="4072890"/>
            <a:ext cx="152133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56701"/>
              </a:lnSpc>
              <a:buNone/>
            </a:pPr>
            <a:r>
              <a:rPr lang="en-US" sz="6600" dirty="0">
                <a:solidFill>
                  <a:srgbClr val="F0D488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تلاوة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941058" y="5139690"/>
            <a:ext cx="24057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7F1E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Tilawah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275576" y="6187440"/>
            <a:ext cx="77368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7F1E3">
                    <a:alpha val="7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open Quran voice collection, recited by the ummah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205788" y="7147560"/>
            <a:ext cx="187642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94A">
                    <a:alpha val="80000"/>
                  </a:srgbClr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وَرَتِّلِ الْقُرْآنَ تَرْتِيلًا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203644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40" kern="0" dirty="0">
                <a:solidFill>
                  <a:srgbClr val="C9992B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24000" y="2607945"/>
            <a:ext cx="13735050" cy="1615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67"/>
              </a:lnSpc>
              <a:buNone/>
            </a:pPr>
            <a:r>
              <a:rPr lang="en-US" sz="5400" b="1" dirty="0">
                <a:solidFill>
                  <a:srgbClr val="06201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Quran technology is starved of open recitation data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524000" y="4756785"/>
            <a:ext cx="4851321" cy="3493770"/>
          </a:xfrm>
          <a:prstGeom prst="roundRect">
            <a:avLst>
              <a:gd name="adj" fmla="val 6543"/>
            </a:avLst>
          </a:prstGeom>
          <a:solidFill>
            <a:srgbClr val="FFFDF7"/>
          </a:solidFill>
          <a:ln w="7620">
            <a:solidFill>
              <a:srgbClr val="D4A94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88820" y="5221605"/>
            <a:ext cx="431384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23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🔒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988820" y="6097905"/>
            <a:ext cx="431384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201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Closed archives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88820" y="6688455"/>
            <a:ext cx="4039331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73"/>
              </a:lnSpc>
              <a:buNone/>
            </a:pPr>
            <a:r>
              <a:rPr lang="en-US" sz="1800" dirty="0">
                <a:solidFill>
                  <a:srgbClr val="546B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Existing recordings are unlicensed for research or app development.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18221" y="4756785"/>
            <a:ext cx="4851440" cy="3493770"/>
          </a:xfrm>
          <a:prstGeom prst="roundRect">
            <a:avLst>
              <a:gd name="adj" fmla="val 6543"/>
            </a:avLst>
          </a:prstGeom>
          <a:solidFill>
            <a:srgbClr val="FFFDF7"/>
          </a:solidFill>
          <a:ln w="7620">
            <a:solidFill>
              <a:srgbClr val="D4A94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83041" y="5221605"/>
            <a:ext cx="43139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23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🎙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183041" y="6097905"/>
            <a:ext cx="43139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201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Few voices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83041" y="6688455"/>
            <a:ext cx="4039454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73"/>
              </a:lnSpc>
              <a:buNone/>
            </a:pPr>
            <a:r>
              <a:rPr lang="en-US" sz="1800" dirty="0">
                <a:solidFill>
                  <a:srgbClr val="546B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handful of famous qaris — no diversity of accent, age, or gender.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912560" y="4756785"/>
            <a:ext cx="4851440" cy="3493770"/>
          </a:xfrm>
          <a:prstGeom prst="roundRect">
            <a:avLst>
              <a:gd name="adj" fmla="val 6543"/>
            </a:avLst>
          </a:prstGeom>
          <a:solidFill>
            <a:srgbClr val="FFFDF7"/>
          </a:solidFill>
          <a:ln w="7620">
            <a:solidFill>
              <a:srgbClr val="D4A94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77381" y="5221605"/>
            <a:ext cx="43139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23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🧩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2377381" y="6097905"/>
            <a:ext cx="43139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201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No verse alignment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77381" y="6688455"/>
            <a:ext cx="4039454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73"/>
              </a:lnSpc>
              <a:buNone/>
            </a:pPr>
            <a:r>
              <a:rPr lang="en-US" sz="1800" dirty="0">
                <a:solidFill>
                  <a:srgbClr val="546B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Audio isn't segmented per ayah, blocking tajweed tutors and search tools.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6201A">
                  <a:alpha val="100000"/>
                </a:srgbClr>
              </a:gs>
              <a:gs pos="100000">
                <a:srgbClr val="0E4A3A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524000" y="3036570"/>
            <a:ext cx="9429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40" kern="0" dirty="0">
                <a:solidFill>
                  <a:srgbClr val="D4A94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4000" y="3608070"/>
            <a:ext cx="8829675" cy="1527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367"/>
              </a:lnSpc>
              <a:buNone/>
            </a:pPr>
            <a:r>
              <a:rPr lang="en-US" sz="5100" b="1" dirty="0">
                <a:solidFill>
                  <a:srgbClr val="F7F1E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Crowdsourced recitation, verse by verse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524000" y="5516880"/>
            <a:ext cx="33551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57"/>
              </a:lnSpc>
              <a:buNone/>
            </a:pPr>
            <a:r>
              <a:rPr lang="en-US" sz="2100" b="1" dirty="0">
                <a:solidFill>
                  <a:srgbClr val="F0D488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992868" y="5516880"/>
            <a:ext cx="739881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7F1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Reciters record any of the 6,236 verses in a guided flow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4000" y="6183630"/>
            <a:ext cx="39921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57"/>
              </a:lnSpc>
              <a:buNone/>
            </a:pPr>
            <a:r>
              <a:rPr lang="en-US" sz="2100" b="1" dirty="0">
                <a:solidFill>
                  <a:srgbClr val="F0D488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02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56567" y="6183630"/>
            <a:ext cx="878918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7F1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Trained reviewers approve each recording for accuracy and clarity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24000" y="6850380"/>
            <a:ext cx="3843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057"/>
              </a:lnSpc>
              <a:buNone/>
            </a:pPr>
            <a:r>
              <a:rPr lang="en-US" sz="2100" b="1" dirty="0">
                <a:solidFill>
                  <a:srgbClr val="F0D488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03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041684" y="6850380"/>
            <a:ext cx="85470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7F1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Approved audio ships in open datasets and a Quran voice model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384281" y="3486150"/>
            <a:ext cx="5044440" cy="3314700"/>
          </a:xfrm>
          <a:custGeom>
            <a:avLst/>
            <a:gdLst/>
            <a:ahLst/>
            <a:cxnLst/>
            <a:rect l="l" t="t" r="r" b="b"/>
            <a:pathLst>
              <a:path w="5044440" h="3314700">
                <a:moveTo>
                  <a:pt x="1657350" y="0"/>
                </a:moveTo>
                <a:lnTo>
                  <a:pt x="3387090" y="0"/>
                </a:lnTo>
                <a:arcTo hR="1657350" wR="1657350" stAng="16200000" swAng="5400000"/>
                <a:lnTo>
                  <a:pt x="5044440" y="3086100"/>
                </a:lnTo>
                <a:arcTo hR="228600" wR="228600" stAng="0" swAng="5400000"/>
                <a:lnTo>
                  <a:pt x="228600" y="3314700"/>
                </a:lnTo>
                <a:arcTo hR="228600" wR="228600" stAng="5400000" swAng="5400000"/>
                <a:lnTo>
                  <a:pt x="0" y="1657350"/>
                </a:lnTo>
                <a:arcTo hR="1657350" wR="1657350" stAng="10800000" swAng="5400000"/>
                <a:close/>
              </a:path>
            </a:pathLst>
          </a:custGeom>
          <a:gradFill rotWithShape="1">
            <a:gsLst>
              <a:gs pos="0">
                <a:srgbClr val="F7F1E3">
                  <a:alpha val="9000"/>
                </a:srgbClr>
              </a:gs>
              <a:gs pos="100000">
                <a:srgbClr val="F7F1E3">
                  <a:alpha val="3000"/>
                </a:srgbClr>
              </a:gs>
            </a:gsLst>
            <a:lin ang="5400000" scaled="0"/>
          </a:gradFill>
          <a:ln w="7620">
            <a:solidFill>
              <a:srgbClr val="D4A94A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48135" y="4255770"/>
            <a:ext cx="431673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636"/>
              </a:lnSpc>
              <a:buNone/>
            </a:pPr>
            <a:r>
              <a:rPr lang="en-US" sz="3000" dirty="0">
                <a:solidFill>
                  <a:srgbClr val="F7F1E3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بِسْمِ ٱللَّهِ ٱلرَّحْمَـٰنِ ٱلرَّحِيمِ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3511213" y="5707380"/>
            <a:ext cx="57150" cy="148590"/>
          </a:xfrm>
          <a:prstGeom prst="roundRect">
            <a:avLst>
              <a:gd name="adj" fmla="val 50000"/>
            </a:avLst>
          </a:prstGeom>
          <a:solidFill>
            <a:srgbClr val="D4A9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3615988" y="5484495"/>
            <a:ext cx="57150" cy="371475"/>
          </a:xfrm>
          <a:prstGeom prst="roundRect">
            <a:avLst>
              <a:gd name="adj" fmla="val 50000"/>
            </a:avLst>
          </a:prstGeom>
          <a:solidFill>
            <a:srgbClr val="D4A9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20763" y="5608320"/>
            <a:ext cx="57150" cy="247650"/>
          </a:xfrm>
          <a:prstGeom prst="roundRect">
            <a:avLst>
              <a:gd name="adj" fmla="val 50000"/>
            </a:avLst>
          </a:prstGeom>
          <a:solidFill>
            <a:srgbClr val="D4A9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3825538" y="5385435"/>
            <a:ext cx="57150" cy="470535"/>
          </a:xfrm>
          <a:prstGeom prst="roundRect">
            <a:avLst>
              <a:gd name="adj" fmla="val 50000"/>
            </a:avLst>
          </a:prstGeom>
          <a:solidFill>
            <a:srgbClr val="D4A9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3930313" y="5534025"/>
            <a:ext cx="57150" cy="321945"/>
          </a:xfrm>
          <a:prstGeom prst="roundRect">
            <a:avLst>
              <a:gd name="adj" fmla="val 50000"/>
            </a:avLst>
          </a:prstGeom>
          <a:solidFill>
            <a:srgbClr val="D4A9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35088" y="5434965"/>
            <a:ext cx="57150" cy="421005"/>
          </a:xfrm>
          <a:prstGeom prst="roundRect">
            <a:avLst>
              <a:gd name="adj" fmla="val 50000"/>
            </a:avLst>
          </a:prstGeom>
          <a:solidFill>
            <a:srgbClr val="D4A9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4139863" y="5633085"/>
            <a:ext cx="57150" cy="222885"/>
          </a:xfrm>
          <a:prstGeom prst="roundRect">
            <a:avLst>
              <a:gd name="adj" fmla="val 50000"/>
            </a:avLst>
          </a:prstGeom>
          <a:solidFill>
            <a:srgbClr val="D4A9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4244638" y="5509260"/>
            <a:ext cx="57150" cy="346710"/>
          </a:xfrm>
          <a:prstGeom prst="roundRect">
            <a:avLst>
              <a:gd name="adj" fmla="val 50000"/>
            </a:avLst>
          </a:prstGeom>
          <a:solidFill>
            <a:srgbClr val="D4A94A"/>
          </a:solidFill>
          <a:ln/>
        </p:spPr>
      </p:sp>
      <p:sp>
        <p:nvSpPr>
          <p:cNvPr id="21" name="Text 19"/>
          <p:cNvSpPr/>
          <p:nvPr/>
        </p:nvSpPr>
        <p:spPr>
          <a:xfrm>
            <a:off x="11601450" y="6084570"/>
            <a:ext cx="46101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D488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✓ Approved · Qari 3 of 5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01948" y="2750820"/>
            <a:ext cx="18839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540" kern="0" dirty="0">
                <a:solidFill>
                  <a:srgbClr val="C9992B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THE GOAL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556218" y="3379470"/>
            <a:ext cx="5106733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66667"/>
              </a:lnSpc>
              <a:buNone/>
            </a:pPr>
            <a:r>
              <a:rPr lang="en-US" sz="15000" b="1" dirty="0">
                <a:solidFill>
                  <a:srgbClr val="0E5A45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6,236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773727" y="4324350"/>
            <a:ext cx="3962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92B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×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74768" y="3379470"/>
            <a:ext cx="106299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66667"/>
              </a:lnSpc>
              <a:buNone/>
            </a:pPr>
            <a:r>
              <a:rPr lang="en-US" sz="15000" b="1" dirty="0">
                <a:solidFill>
                  <a:srgbClr val="0E5A45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5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4966627" y="5570220"/>
            <a:ext cx="8354628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546B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verse of the Quran · five distinct qaris each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56998" y="6576060"/>
            <a:ext cx="5374005" cy="960120"/>
          </a:xfrm>
          <a:prstGeom prst="roundRect">
            <a:avLst>
              <a:gd name="adj" fmla="val 50000"/>
            </a:avLst>
          </a:prstGeom>
          <a:solidFill>
            <a:srgbClr val="FFFDF7"/>
          </a:solidFill>
          <a:ln w="7620">
            <a:solidFill>
              <a:srgbClr val="D4A94A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55508" y="6812280"/>
            <a:ext cx="4376985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6201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= 31,180 approved recitations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6201A">
                  <a:alpha val="100000"/>
                </a:srgbClr>
              </a:gs>
              <a:gs pos="100000">
                <a:srgbClr val="0E4A3A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524000" y="254698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40" kern="0" dirty="0">
                <a:solidFill>
                  <a:srgbClr val="D4A94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WHAT IT UNLOCKS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4000" y="3118485"/>
            <a:ext cx="16764000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7F1E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Sadaqah jariyah, at scale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524000" y="4703445"/>
            <a:ext cx="3581400" cy="3036570"/>
          </a:xfrm>
          <a:custGeom>
            <a:avLst/>
            <a:gdLst/>
            <a:ahLst/>
            <a:cxnLst/>
            <a:rect l="l" t="t" r="r" b="b"/>
            <a:pathLst>
              <a:path w="3581400" h="3036570">
                <a:moveTo>
                  <a:pt x="1238250" y="0"/>
                </a:moveTo>
                <a:lnTo>
                  <a:pt x="2343150" y="0"/>
                </a:lnTo>
                <a:arcTo hR="1238250" wR="1238250" stAng="16200000" swAng="5400000"/>
                <a:lnTo>
                  <a:pt x="3581400" y="2846070"/>
                </a:lnTo>
                <a:arcTo hR="190500" wR="190500" stAng="0" swAng="5400000"/>
                <a:lnTo>
                  <a:pt x="190500" y="3036570"/>
                </a:lnTo>
                <a:arcTo hR="190500" wR="190500" stAng="5400000" swAng="5400000"/>
                <a:lnTo>
                  <a:pt x="0" y="1238250"/>
                </a:lnTo>
                <a:arcTo hR="1238250" wR="1238250" stAng="10800000" swAng="5400000"/>
                <a:close/>
              </a:path>
            </a:pathLst>
          </a:custGeom>
          <a:solidFill>
            <a:srgbClr val="F7F1E3">
              <a:alpha val="6000"/>
            </a:srgbClr>
          </a:solidFill>
          <a:ln w="7620">
            <a:solidFill>
              <a:srgbClr val="D4A94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0502" y="5244465"/>
            <a:ext cx="316839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7F1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🧑‍🏫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730502" y="6193155"/>
            <a:ext cx="316839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1E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Tajweed tutors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31315" y="6711315"/>
            <a:ext cx="2966771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575" dirty="0">
                <a:solidFill>
                  <a:srgbClr val="F7F1E3">
                    <a:alpha val="6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Apps that hear a student and correct mistakes per ayah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5410200" y="4703445"/>
            <a:ext cx="3581400" cy="3036570"/>
          </a:xfrm>
          <a:custGeom>
            <a:avLst/>
            <a:gdLst/>
            <a:ahLst/>
            <a:cxnLst/>
            <a:rect l="l" t="t" r="r" b="b"/>
            <a:pathLst>
              <a:path w="3581400" h="3036570">
                <a:moveTo>
                  <a:pt x="1238250" y="0"/>
                </a:moveTo>
                <a:lnTo>
                  <a:pt x="2343150" y="0"/>
                </a:lnTo>
                <a:arcTo hR="1238250" wR="1238250" stAng="16200000" swAng="5400000"/>
                <a:lnTo>
                  <a:pt x="3581400" y="2846070"/>
                </a:lnTo>
                <a:arcTo hR="190500" wR="190500" stAng="0" swAng="5400000"/>
                <a:lnTo>
                  <a:pt x="190500" y="3036570"/>
                </a:lnTo>
                <a:arcTo hR="190500" wR="190500" stAng="5400000" swAng="5400000"/>
                <a:lnTo>
                  <a:pt x="0" y="1238250"/>
                </a:lnTo>
                <a:arcTo hR="1238250" wR="1238250" stAng="10800000" swAng="5400000"/>
                <a:close/>
              </a:path>
            </a:pathLst>
          </a:custGeom>
          <a:solidFill>
            <a:srgbClr val="F7F1E3">
              <a:alpha val="6000"/>
            </a:srgbClr>
          </a:solidFill>
          <a:ln w="7620">
            <a:solidFill>
              <a:srgbClr val="D4A94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16702" y="5244465"/>
            <a:ext cx="316839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7F1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🦻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616702" y="6193155"/>
            <a:ext cx="316839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1E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Accessibility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717514" y="6711315"/>
            <a:ext cx="2966771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575" dirty="0">
                <a:solidFill>
                  <a:srgbClr val="F7F1E3">
                    <a:alpha val="6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Audio Quran access for blind and low-literacy Muslims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9296400" y="4703445"/>
            <a:ext cx="3581400" cy="3036570"/>
          </a:xfrm>
          <a:custGeom>
            <a:avLst/>
            <a:gdLst/>
            <a:ahLst/>
            <a:cxnLst/>
            <a:rect l="l" t="t" r="r" b="b"/>
            <a:pathLst>
              <a:path w="3581400" h="3036570">
                <a:moveTo>
                  <a:pt x="1238250" y="0"/>
                </a:moveTo>
                <a:lnTo>
                  <a:pt x="2343150" y="0"/>
                </a:lnTo>
                <a:arcTo hR="1238250" wR="1238250" stAng="16200000" swAng="5400000"/>
                <a:lnTo>
                  <a:pt x="3581400" y="2846070"/>
                </a:lnTo>
                <a:arcTo hR="190500" wR="190500" stAng="0" swAng="5400000"/>
                <a:lnTo>
                  <a:pt x="190500" y="3036570"/>
                </a:lnTo>
                <a:arcTo hR="190500" wR="190500" stAng="5400000" swAng="5400000"/>
                <a:lnTo>
                  <a:pt x="0" y="1238250"/>
                </a:lnTo>
                <a:arcTo hR="1238250" wR="1238250" stAng="10800000" swAng="5400000"/>
                <a:close/>
              </a:path>
            </a:pathLst>
          </a:custGeom>
          <a:solidFill>
            <a:srgbClr val="F7F1E3">
              <a:alpha val="6000"/>
            </a:srgbClr>
          </a:solidFill>
          <a:ln w="7620">
            <a:solidFill>
              <a:srgbClr val="D4A94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2902" y="5244465"/>
            <a:ext cx="316839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7F1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🔎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502902" y="6193155"/>
            <a:ext cx="316839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1E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Voice search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03714" y="6711315"/>
            <a:ext cx="2966771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575" dirty="0">
                <a:solidFill>
                  <a:srgbClr val="F7F1E3">
                    <a:alpha val="6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Recite a verse aloud and find it instantly with tafsir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3182600" y="4703445"/>
            <a:ext cx="3581400" cy="3036570"/>
          </a:xfrm>
          <a:custGeom>
            <a:avLst/>
            <a:gdLst/>
            <a:ahLst/>
            <a:cxnLst/>
            <a:rect l="l" t="t" r="r" b="b"/>
            <a:pathLst>
              <a:path w="3581400" h="3036570">
                <a:moveTo>
                  <a:pt x="1238250" y="0"/>
                </a:moveTo>
                <a:lnTo>
                  <a:pt x="2343150" y="0"/>
                </a:lnTo>
                <a:arcTo hR="1238250" wR="1238250" stAng="16200000" swAng="5400000"/>
                <a:lnTo>
                  <a:pt x="3581400" y="2846070"/>
                </a:lnTo>
                <a:arcTo hR="190500" wR="190500" stAng="0" swAng="5400000"/>
                <a:lnTo>
                  <a:pt x="190500" y="3036570"/>
                </a:lnTo>
                <a:arcTo hR="190500" wR="190500" stAng="5400000" swAng="5400000"/>
                <a:lnTo>
                  <a:pt x="0" y="1238250"/>
                </a:lnTo>
                <a:arcTo hR="1238250" wR="1238250" stAng="10800000" swAng="5400000"/>
                <a:close/>
              </a:path>
            </a:pathLst>
          </a:custGeom>
          <a:solidFill>
            <a:srgbClr val="F7F1E3">
              <a:alpha val="6000"/>
            </a:srgbClr>
          </a:solidFill>
          <a:ln w="7620">
            <a:solidFill>
              <a:srgbClr val="D4A94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89102" y="5244465"/>
            <a:ext cx="316839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7F1E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🌍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3389102" y="6193155"/>
            <a:ext cx="316839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1E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Open research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489915" y="6711315"/>
            <a:ext cx="2966771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575" dirty="0">
                <a:solidFill>
                  <a:srgbClr val="F7F1E3">
                    <a:alpha val="6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permanent, free resource for the global research ummah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278320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40" kern="0" dirty="0">
                <a:solidFill>
                  <a:srgbClr val="C9992B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WHERE DONATIONS GO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24000" y="3354705"/>
            <a:ext cx="16764000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06201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$48k funds year one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524000" y="4939665"/>
            <a:ext cx="35623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6201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Review team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105400" y="4943475"/>
            <a:ext cx="7791450" cy="419100"/>
          </a:xfrm>
          <a:prstGeom prst="roundRect">
            <a:avLst>
              <a:gd name="adj" fmla="val 50000"/>
            </a:avLst>
          </a:prstGeom>
          <a:solidFill>
            <a:srgbClr val="EFE6CD"/>
          </a:solidFill>
          <a:ln/>
        </p:spPr>
      </p:sp>
      <p:sp>
        <p:nvSpPr>
          <p:cNvPr id="6" name="Shape 4"/>
          <p:cNvSpPr/>
          <p:nvPr/>
        </p:nvSpPr>
        <p:spPr>
          <a:xfrm>
            <a:off x="5105400" y="4943475"/>
            <a:ext cx="3895725" cy="419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E5A45">
                  <a:alpha val="100000"/>
                </a:srgbClr>
              </a:gs>
              <a:gs pos="100000">
                <a:srgbClr val="D4A94A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13077825" y="4939665"/>
            <a:ext cx="1781175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B07D1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$24k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24000" y="5652135"/>
            <a:ext cx="35623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6201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Model training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5105400" y="5655945"/>
            <a:ext cx="7791450" cy="419100"/>
          </a:xfrm>
          <a:prstGeom prst="roundRect">
            <a:avLst>
              <a:gd name="adj" fmla="val 50000"/>
            </a:avLst>
          </a:prstGeom>
          <a:solidFill>
            <a:srgbClr val="EFE6CD"/>
          </a:solidFill>
          <a:ln/>
        </p:spPr>
      </p:sp>
      <p:sp>
        <p:nvSpPr>
          <p:cNvPr id="10" name="Shape 8"/>
          <p:cNvSpPr/>
          <p:nvPr/>
        </p:nvSpPr>
        <p:spPr>
          <a:xfrm>
            <a:off x="5105400" y="5655945"/>
            <a:ext cx="2259449" cy="419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E5A45">
                  <a:alpha val="100000"/>
                </a:srgbClr>
              </a:gs>
              <a:gs pos="100000">
                <a:srgbClr val="D4A94A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13077825" y="5652135"/>
            <a:ext cx="1781175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B07D1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$14k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24000" y="6364605"/>
            <a:ext cx="35623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6201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Storage &amp; infra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5105400" y="6368415"/>
            <a:ext cx="7791450" cy="419100"/>
          </a:xfrm>
          <a:prstGeom prst="roundRect">
            <a:avLst>
              <a:gd name="adj" fmla="val 50000"/>
            </a:avLst>
          </a:prstGeom>
          <a:solidFill>
            <a:srgbClr val="EFE6CD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5400" y="6368415"/>
            <a:ext cx="1168718" cy="419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E5A45">
                  <a:alpha val="100000"/>
                </a:srgbClr>
              </a:gs>
              <a:gs pos="100000">
                <a:srgbClr val="D4A94A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13077825" y="6364605"/>
            <a:ext cx="1781175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B07D1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$7k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524000" y="7077075"/>
            <a:ext cx="35623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6201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Community &amp; outreach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5105400" y="7080885"/>
            <a:ext cx="7791450" cy="419100"/>
          </a:xfrm>
          <a:prstGeom prst="roundRect">
            <a:avLst>
              <a:gd name="adj" fmla="val 50000"/>
            </a:avLst>
          </a:prstGeom>
          <a:solidFill>
            <a:srgbClr val="EFE6CD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5400" y="7080885"/>
            <a:ext cx="467439" cy="419100"/>
          </a:xfrm>
          <a:prstGeom prst="ellipse">
            <a:avLst/>
          </a:prstGeom>
          <a:gradFill rotWithShape="1">
            <a:gsLst>
              <a:gs pos="0">
                <a:srgbClr val="0E5A45">
                  <a:alpha val="100000"/>
                </a:srgbClr>
              </a:gs>
              <a:gs pos="100000">
                <a:srgbClr val="D4A94A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9" name="Text 17"/>
          <p:cNvSpPr/>
          <p:nvPr/>
        </p:nvSpPr>
        <p:spPr>
          <a:xfrm>
            <a:off x="13077825" y="7077075"/>
            <a:ext cx="1781175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B07D1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$3k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89718" y="2204085"/>
            <a:ext cx="490856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D4A94A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مَنْ ذَا الَّذِي يُقْرِضُ اللَّهَ قَرْضًا حَسَنًا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208598" y="3171825"/>
            <a:ext cx="587080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7F1E3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Join the mission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748087" y="4562475"/>
            <a:ext cx="10791825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F7F1E3">
                    <a:alpha val="7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Donate to fund reviews and training, recite to grow the collection, or share Tilawah with a qari you know.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89382" y="6147435"/>
            <a:ext cx="2648069" cy="9372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4A94A">
                  <a:alpha val="100000"/>
                </a:srgbClr>
              </a:gs>
              <a:gs pos="100000">
                <a:srgbClr val="EEC96A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476250" dist="152400" dir="5400000">
              <a:srgbClr val="D4A94A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59261" y="6395085"/>
            <a:ext cx="150831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6201A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🤲 Donate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404152" y="6147435"/>
            <a:ext cx="2394347" cy="937260"/>
          </a:xfrm>
          <a:prstGeom prst="roundRect">
            <a:avLst>
              <a:gd name="adj" fmla="val 50000"/>
            </a:avLst>
          </a:prstGeom>
          <a:solidFill>
            <a:srgbClr val="F7F1E3">
              <a:alpha val="8000"/>
            </a:srgbClr>
          </a:solidFill>
          <a:ln w="7620">
            <a:solidFill>
              <a:srgbClr val="D4A94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83272" y="6402705"/>
            <a:ext cx="1236107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0D488"/>
                </a:solidFill>
                <a:latin typeface="Reem Kufi" pitchFamily="34" charset="0"/>
                <a:ea typeface="Reem Kufi" pitchFamily="34" charset="-122"/>
                <a:cs typeface="Reem Kufi" pitchFamily="34" charset="-120"/>
              </a:rPr>
              <a:t>🎙 Recite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148036" y="7770495"/>
            <a:ext cx="399192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1E3">
                    <a:alpha val="5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tilawah.app · Recite for the Ummah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2026-08-18T18:29:59Z</dcterms:created>
  <dcterms:modified xsi:type="dcterms:W3CDTF">2026-08-18T18:29:59Z</dcterms:modified>
</cp:coreProperties>
</file>